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-NW-02_op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/>
            </a:pPr>
            <a:r>
              <a:t>Unterrichtseinheit: Endgeräte und Kommunikation</a:t>
            </a:r>
          </a:p>
          <a:p>
            <a:pPr>
              <a:defRPr sz="1800"/>
            </a:pPr>
            <a:r>
              <a:t>Fachinformatiker/in Systemintegration · 90 Minuten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Nach der Einheit können Sie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erklären, was ein Endgerät in einem Netzwerk ist.</a:t>
            </a:r>
          </a:p>
          <a:p>
            <a:pPr>
              <a:spcAft>
                <a:spcPts val="700"/>
              </a:spcAft>
              <a:defRPr sz="2100"/>
            </a:pPr>
            <a:r>
              <a:t>typische Endgeräte unterscheiden.</a:t>
            </a:r>
          </a:p>
          <a:p>
            <a:pPr>
              <a:spcAft>
                <a:spcPts val="700"/>
              </a:spcAft>
              <a:defRPr sz="2100"/>
            </a:pPr>
            <a:r>
              <a:t>Sender und Empfänger einer Kommunikation benennen.</a:t>
            </a:r>
          </a:p>
          <a:p>
            <a:pPr>
              <a:spcAft>
                <a:spcPts val="700"/>
              </a:spcAft>
              <a:defRPr sz="2100"/>
            </a:pPr>
            <a:r>
              <a:t>erklären, dass Netzwerkkommunikation zwischen Endpunkten stattfindet.</a:t>
            </a:r>
          </a:p>
          <a:p>
            <a:pPr>
              <a:spcAft>
                <a:spcPts val="700"/>
              </a:spcAft>
              <a:defRPr sz="2100"/>
            </a:pPr>
            <a:r>
              <a:t>die Rolle von Netzwerkkomponenten zwischen Sender und Empfänger grundsätzlich einordnen.</a:t>
            </a:r>
          </a:p>
          <a:p>
            <a:pPr>
              <a:spcAft>
                <a:spcPts val="700"/>
              </a:spcAft>
              <a:defRPr sz="2100"/>
            </a:pPr>
            <a:r>
              <a:t>bei einer Störung zuerst klären: Wer möchte mit wem kommunizieren?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Einstieg: Wer will mit wem sprechen?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/>
            </a:pPr>
            <a:r>
              <a:t>Ein PC öffnet eine Datei auf einem Fileserver.</a:t>
            </a:r>
          </a:p>
          <a:p>
            <a:pPr>
              <a:spcAft>
                <a:spcPts val="700"/>
              </a:spcAft>
              <a:defRPr sz="2500"/>
            </a:pPr>
            <a:r>
              <a:t>Wer ist der Sender?</a:t>
            </a:r>
          </a:p>
          <a:p>
            <a:pPr>
              <a:spcAft>
                <a:spcPts val="700"/>
              </a:spcAft>
              <a:defRPr sz="2500"/>
            </a:pPr>
            <a:r>
              <a:t>Wer ist der Empfänger?</a:t>
            </a:r>
          </a:p>
          <a:p>
            <a:pPr>
              <a:spcAft>
                <a:spcPts val="700"/>
              </a:spcAft>
              <a:defRPr sz="2500"/>
            </a:pPr>
            <a:r>
              <a:t>Und wer oder was befindet sich dazwischen?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Think–Pair–Share · 5 Minuten</a:t>
            </a:r>
          </a:p>
          <a:p>
            <a:pPr>
              <a:defRPr sz="1200"/>
            </a:pPr>
            <a:r>
              <a:t>30 Sekunden allein → 90 Sekunden zu zweit → kurze Sammlung im Plenum.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Was ist ein Endgerät?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Ein Endgerät ist ein technisches System, das Netzwerkdaten erzeugt, verarbeitet, sendet oder empfängt.</a:t>
            </a:r>
          </a:p>
          <a:p>
            <a:pPr>
              <a:spcAft>
                <a:spcPts val="700"/>
              </a:spcAft>
              <a:defRPr sz="2100"/>
            </a:pPr>
            <a:r>
              <a:t>Am Anfang und am Ende einer Kommunikation stehen meistens Endgeräte.</a:t>
            </a:r>
          </a:p>
          <a:p>
            <a:pPr>
              <a:spcAft>
                <a:spcPts val="700"/>
              </a:spcAft>
              <a:defRPr sz="2100"/>
            </a:pPr>
            <a:r>
              <a:t>Ein Endgerät muss kein klassischer Computer sein.</a:t>
            </a:r>
          </a:p>
          <a:p>
            <a:pPr>
              <a:spcAft>
                <a:spcPts val="700"/>
              </a:spcAft>
              <a:defRPr sz="2100"/>
            </a:pPr>
            <a:r>
              <a:t>Beispiele: PC, Notebook, Smartphone, Tablet, Server, Netzwerkdrucker, IP-Telefon, Überwachungskamera.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Wichtig</a:t>
            </a:r>
          </a:p>
          <a:p>
            <a:pPr>
              <a:defRPr sz="1200"/>
            </a:pPr>
            <a:r>
              <a:t>„Endgerät“ bedeutet hier Kommunikationsendpunkt – nicht einfach „Gerät am Ende eines Kabels“.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Endgeräte erkennen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/>
            </a:pPr>
            <a:r>
              <a:t>PC / Notebook</a:t>
            </a:r>
          </a:p>
          <a:p>
            <a:pPr>
              <a:spcAft>
                <a:spcPts val="700"/>
              </a:spcAft>
              <a:defRPr sz="2400"/>
            </a:pPr>
            <a:r>
              <a:t>Smartphone / Tablet</a:t>
            </a:r>
          </a:p>
          <a:p>
            <a:pPr>
              <a:spcAft>
                <a:spcPts val="700"/>
              </a:spcAft>
              <a:defRPr sz="2400"/>
            </a:pPr>
            <a:r>
              <a:t>Server</a:t>
            </a:r>
          </a:p>
          <a:p>
            <a:pPr>
              <a:spcAft>
                <a:spcPts val="700"/>
              </a:spcAft>
              <a:defRPr sz="2400"/>
            </a:pPr>
            <a:r>
              <a:t>Netzwerkdrucker</a:t>
            </a:r>
          </a:p>
          <a:p>
            <a:pPr>
              <a:spcAft>
                <a:spcPts val="700"/>
              </a:spcAft>
              <a:defRPr sz="2400"/>
            </a:pPr>
            <a:r>
              <a:t>IP-Telefon</a:t>
            </a:r>
          </a:p>
          <a:p>
            <a:pPr>
              <a:spcAft>
                <a:spcPts val="700"/>
              </a:spcAft>
              <a:defRPr sz="2400"/>
            </a:pPr>
            <a:r>
              <a:t>Überwachungskamera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Frage an die Gruppe</a:t>
            </a:r>
          </a:p>
          <a:p>
            <a:pPr>
              <a:defRPr sz="1200"/>
            </a:pPr>
            <a:r>
              <a:t>Was kann dieses Gerät im Netzwerk tun? Daten senden? Empfangen? Verarbeiten? Mehreres?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Sender und Empfänger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Sender: erzeugt oder übermittelt Daten.</a:t>
            </a:r>
          </a:p>
          <a:p>
            <a:pPr>
              <a:spcAft>
                <a:spcPts val="700"/>
              </a:spcAft>
              <a:defRPr sz="2100"/>
            </a:pPr>
            <a:r>
              <a:t>Empfänger: nimmt Daten entgegen und verarbeitet sie.</a:t>
            </a:r>
          </a:p>
          <a:p>
            <a:pPr>
              <a:spcAft>
                <a:spcPts val="700"/>
              </a:spcAft>
              <a:defRPr sz="2100"/>
            </a:pPr>
            <a:r>
              <a:t>Beispiel: PC → Server</a:t>
            </a:r>
          </a:p>
          <a:p>
            <a:pPr lvl="1">
              <a:spcAft>
                <a:spcPts val="700"/>
              </a:spcAft>
              <a:defRPr sz="1800"/>
            </a:pPr>
            <a:r>
              <a:t>Der PC sendet eine Anfrage.</a:t>
            </a:r>
          </a:p>
          <a:p>
            <a:pPr lvl="1">
              <a:spcAft>
                <a:spcPts val="700"/>
              </a:spcAft>
              <a:defRPr sz="1800"/>
            </a:pPr>
            <a:r>
              <a:t>Der Server empfängt sie.</a:t>
            </a:r>
          </a:p>
          <a:p>
            <a:pPr>
              <a:spcAft>
                <a:spcPts val="700"/>
              </a:spcAft>
              <a:defRPr sz="2100"/>
            </a:pPr>
            <a:r>
              <a:t>Danach kann die Richtung wechseln: Server → PC.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Kernpunkt</a:t>
            </a:r>
          </a:p>
          <a:p>
            <a:pPr>
              <a:defRPr sz="1200"/>
            </a:pPr>
            <a:r>
              <a:t>Sender und Empfänger sind keine festen Eigenschaften eines Gerätes.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Die Kommunikationsrolle kann wechseln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/>
            </a:pPr>
            <a:r>
              <a:t>PC → Server: PC = Sender, Server = Empfänger</a:t>
            </a:r>
          </a:p>
          <a:p>
            <a:pPr>
              <a:spcAft>
                <a:spcPts val="700"/>
              </a:spcAft>
              <a:defRPr sz="2300"/>
            </a:pPr>
            <a:r>
              <a:t>Server → PC: Server = Sender, PC = Empfänger</a:t>
            </a:r>
          </a:p>
          <a:p>
            <a:pPr>
              <a:spcAft>
                <a:spcPts val="700"/>
              </a:spcAft>
              <a:defRPr sz="2300"/>
            </a:pPr>
            <a:r>
              <a:t>Auch Smartphone, Server oder andere Endgeräte können je nach Kommunikation senden und empfangen.</a:t>
            </a:r>
          </a:p>
          <a:p>
            <a:pPr>
              <a:spcAft>
                <a:spcPts val="700"/>
              </a:spcAft>
              <a:defRPr sz="2300"/>
            </a:pPr>
            <a:r>
              <a:t>Die Rolle hängt davon ab, was gerade kommuniziert wird.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Kurzaktivität: Sender oder Empfänger?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/>
            </a:pPr>
            <a:r>
              <a:t>1. PC fordert eine Datei vom Fileserver an.</a:t>
            </a:r>
          </a:p>
          <a:p>
            <a:pPr>
              <a:spcAft>
                <a:spcPts val="700"/>
              </a:spcAft>
              <a:defRPr sz="2200"/>
            </a:pPr>
            <a:r>
              <a:t>2. Fileserver sendet die Datei zurück.</a:t>
            </a:r>
          </a:p>
          <a:p>
            <a:pPr>
              <a:spcAft>
                <a:spcPts val="700"/>
              </a:spcAft>
              <a:defRPr sz="2200"/>
            </a:pPr>
            <a:r>
              <a:t>3. Smartphone lädt Daten von einem Dienst.</a:t>
            </a:r>
          </a:p>
          <a:p>
            <a:pPr>
              <a:spcAft>
                <a:spcPts val="700"/>
              </a:spcAft>
              <a:defRPr sz="2200"/>
            </a:pPr>
            <a:r>
              <a:t>4. Netzwerkdrucker empfängt einen Druckauftrag.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Partnerarbeit · 5 Minuten</a:t>
            </a:r>
          </a:p>
          <a:p>
            <a:pPr>
              <a:defRPr sz="1200"/>
            </a:pPr>
            <a:r>
              <a:t>Für jeden Fall Sender und Empfänger nennen. Danach eine Situation auswählen, bei der die Rollen wechseln.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Was passiert zwischen den Endgeräten?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/>
            </a:pPr>
            <a:r>
              <a:t>Zwischen zwei Endgeräten können verschiedene Netzwerkkomponenten liegen.</a:t>
            </a:r>
          </a:p>
          <a:p>
            <a:pPr>
              <a:spcAft>
                <a:spcPts val="700"/>
              </a:spcAft>
              <a:defRPr sz="2200"/>
            </a:pPr>
            <a:r>
              <a:t>Beispiel:</a:t>
            </a:r>
          </a:p>
          <a:p>
            <a:pPr lvl="1">
              <a:spcAft>
                <a:spcPts val="700"/>
              </a:spcAft>
              <a:defRPr sz="1900"/>
            </a:pPr>
            <a:r>
              <a:t>PC → Switch → Router → Router → Server</a:t>
            </a:r>
          </a:p>
          <a:p>
            <a:pPr>
              <a:spcAft>
                <a:spcPts val="700"/>
              </a:spcAft>
              <a:defRPr sz="2200"/>
            </a:pPr>
            <a:r>
              <a:t>PC und Server bleiben die Kommunikationsendpunkte.</a:t>
            </a:r>
          </a:p>
          <a:p>
            <a:pPr>
              <a:spcAft>
                <a:spcPts val="700"/>
              </a:spcAft>
              <a:defRPr sz="2200"/>
            </a:pPr>
            <a:r>
              <a:t>Die Geräte dazwischen sorgen dafür, dass Daten weitergeleitet oder vermittelt werden können.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Abgrenzung</a:t>
            </a:r>
          </a:p>
          <a:p>
            <a:pPr>
              <a:defRPr sz="1200"/>
            </a:pPr>
            <a:r>
              <a:t>Endgeräte nutzen die Netzwerkkommunikation. Netzwerkkomponenten unterstützen und steuern den Weg der Kommunikation.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Endgerät oder Netzwerkkomponente?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/>
                        <a:t>Gerät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Einordnung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/>
                        <a:t>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Endgerät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/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Endgerät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/>
                        <a:t>Netzwerkdrucker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Endgerät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/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Netzwerkkomponente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/>
                        <a:t>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Netzwerkkomponente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/>
                        <a:t>Access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Netzwerkkomponente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Ein Gerät kann unterschiedliche Aufgaben haben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Ein Server kann z. B. Dateien bereitstellen.</a:t>
            </a:r>
          </a:p>
          <a:p>
            <a:pPr>
              <a:spcAft>
                <a:spcPts val="700"/>
              </a:spcAft>
              <a:defRPr sz="2100"/>
            </a:pPr>
            <a:r>
              <a:t>Er kann Webseiten anbieten.</a:t>
            </a:r>
          </a:p>
          <a:p>
            <a:pPr>
              <a:spcAft>
                <a:spcPts val="700"/>
              </a:spcAft>
              <a:defRPr sz="2100"/>
            </a:pPr>
            <a:r>
              <a:t>Er kann Datenbanken betreiben.</a:t>
            </a:r>
          </a:p>
          <a:p>
            <a:pPr>
              <a:spcAft>
                <a:spcPts val="700"/>
              </a:spcAft>
              <a:defRPr sz="2100"/>
            </a:pPr>
            <a:r>
              <a:t>Er kann Benutzer authentifizieren.</a:t>
            </a:r>
          </a:p>
          <a:p>
            <a:pPr>
              <a:spcAft>
                <a:spcPts val="700"/>
              </a:spcAft>
              <a:defRPr sz="2100"/>
            </a:pPr>
            <a:r>
              <a:t>Er kann Netzwerkdienste bereitstellen.</a:t>
            </a:r>
          </a:p>
          <a:p>
            <a:pPr>
              <a:spcAft>
                <a:spcPts val="700"/>
              </a:spcAft>
              <a:defRPr sz="2100"/>
            </a:pPr>
            <a:r>
              <a:t>Aus Sicht der Netzwerkkommunikation bleibt er zunächst ein Endgerät, das Daten sendet und empfängt.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Denkweise</a:t>
            </a:r>
          </a:p>
          <a:p>
            <a:pPr>
              <a:defRPr sz="1200"/>
            </a:pPr>
            <a:r>
              <a:t>Nicht nur nach der Gerätebezeichnung sortieren. Entscheidend ist die Rolle in der aktuellen Kommunikation.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Beispiel aus dem IT-Alltag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/>
            </a:pPr>
            <a:r>
              <a:t>Arbeitsplatz-PC → Netzwerk → Fileserver</a:t>
            </a:r>
          </a:p>
          <a:p>
            <a:pPr>
              <a:spcAft>
                <a:spcPts val="700"/>
              </a:spcAft>
              <a:defRPr sz="2200"/>
            </a:pPr>
            <a:r>
              <a:t>Der PC sendet eine Anfrage.</a:t>
            </a:r>
          </a:p>
          <a:p>
            <a:pPr>
              <a:spcAft>
                <a:spcPts val="700"/>
              </a:spcAft>
              <a:defRPr sz="2200"/>
            </a:pPr>
            <a:r>
              <a:t>Das Netzwerk transportiert die Anfrage.</a:t>
            </a:r>
          </a:p>
          <a:p>
            <a:pPr>
              <a:spcAft>
                <a:spcPts val="700"/>
              </a:spcAft>
              <a:defRPr sz="2200"/>
            </a:pPr>
            <a:r>
              <a:t>Der Server empfängt und verarbeitet sie.</a:t>
            </a:r>
          </a:p>
          <a:p>
            <a:pPr>
              <a:spcAft>
                <a:spcPts val="700"/>
              </a:spcAft>
              <a:defRPr sz="2200"/>
            </a:pPr>
            <a:r>
              <a:t>Der Server sendet die Daten zurück.</a:t>
            </a:r>
          </a:p>
          <a:p>
            <a:pPr>
              <a:spcAft>
                <a:spcPts val="700"/>
              </a:spcAft>
              <a:defRPr sz="2200"/>
            </a:pPr>
            <a:r>
              <a:t>Fileserver → Netzwerk → Arbeitsplatz-PC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Merke</a:t>
            </a:r>
          </a:p>
          <a:p>
            <a:pPr>
              <a:defRPr sz="1200"/>
            </a:pPr>
            <a:r>
              <a:t>Kommunikation ist keine Einbahnstraße. Die Rollen können sich jederzeit ändern.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Warum ist die Unterscheidung für die IT wichtig?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Benutzer: „Der Server funktioniert nicht.“</a:t>
            </a:r>
          </a:p>
          <a:p>
            <a:pPr>
              <a:spcAft>
                <a:spcPts val="700"/>
              </a:spcAft>
              <a:defRPr sz="2000"/>
            </a:pPr>
            <a:r>
              <a:t>Das ist technisch noch keine brauchbare Fehlerbeschreibung.</a:t>
            </a:r>
          </a:p>
          <a:p>
            <a:pPr>
              <a:spcAft>
                <a:spcPts val="700"/>
              </a:spcAft>
              <a:defRPr sz="2000"/>
            </a:pPr>
            <a:r>
              <a:t>Vielleicht funktioniert der Server – nur dieser Arbeitsplatz erreicht ihn nicht.</a:t>
            </a:r>
          </a:p>
          <a:p>
            <a:pPr>
              <a:spcAft>
                <a:spcPts val="700"/>
              </a:spcAft>
              <a:defRPr sz="2000"/>
            </a:pPr>
            <a:r>
              <a:t>Vielleicht funktioniert die Netzwerkverbindung, aber der benötigte Dienst läuft nicht.</a:t>
            </a:r>
          </a:p>
          <a:p>
            <a:pPr>
              <a:spcAft>
                <a:spcPts val="700"/>
              </a:spcAft>
              <a:defRPr sz="2000"/>
            </a:pPr>
            <a:r>
              <a:t>Vielleicht wird die Kommunikation unterwegs blockiert.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Erste Frage bei der Fehlersuche</a:t>
            </a:r>
          </a:p>
          <a:p>
            <a:pPr>
              <a:defRPr sz="1200"/>
            </a:pPr>
            <a:r>
              <a:t>Wer möchte mit wem kommunizieren?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Transfer: „Der Server funktioniert nicht.“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Fall: Eine Mitarbeiterin kann eine Datei auf dem Fileserver nicht öffnen.</a:t>
            </a:r>
          </a:p>
          <a:p>
            <a:pPr>
              <a:spcAft>
                <a:spcPts val="700"/>
              </a:spcAft>
              <a:defRPr sz="2000"/>
            </a:pPr>
            <a:r>
              <a:t>Arbeitsauftrag:</a:t>
            </a:r>
          </a:p>
          <a:p>
            <a:pPr lvl="1">
              <a:spcAft>
                <a:spcPts val="700"/>
              </a:spcAft>
              <a:defRPr sz="1700"/>
            </a:pPr>
            <a:r>
              <a:t>1. Wer ist der mögliche Sender?</a:t>
            </a:r>
          </a:p>
          <a:p>
            <a:pPr lvl="1">
              <a:spcAft>
                <a:spcPts val="700"/>
              </a:spcAft>
              <a:defRPr sz="1700"/>
            </a:pPr>
            <a:r>
              <a:t>2. Wer ist der mögliche Empfänger?</a:t>
            </a:r>
          </a:p>
          <a:p>
            <a:pPr lvl="1">
              <a:spcAft>
                <a:spcPts val="700"/>
              </a:spcAft>
              <a:defRPr sz="1700"/>
            </a:pPr>
            <a:r>
              <a:t>3. Welche Kommunikation soll stattfinden?</a:t>
            </a:r>
          </a:p>
          <a:p>
            <a:pPr lvl="1">
              <a:spcAft>
                <a:spcPts val="700"/>
              </a:spcAft>
              <a:defRPr sz="1700"/>
            </a:pPr>
            <a:r>
              <a:t>4. Welche Information fehlt in der Aussage „Der Server funktioniert nicht“?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Kleingruppen · 7 Minuten</a:t>
            </a:r>
          </a:p>
          <a:p>
            <a:pPr>
              <a:defRPr sz="1200"/>
            </a:pPr>
            <a:r>
              <a:t>Formulieren Sie anschließend eine technisch brauchbarere Fehlerbeschreibung.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Fehlersuche als Kommunikationskette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/>
            </a:pPr>
            <a:r>
              <a:t>Sender → Weg → Empfänger</a:t>
            </a:r>
          </a:p>
          <a:p>
            <a:pPr>
              <a:spcAft>
                <a:spcPts val="700"/>
              </a:spcAft>
              <a:defRPr sz="2500"/>
            </a:pPr>
            <a:r>
              <a:t>Zuerst Kommunikationspartner identifizieren.</a:t>
            </a:r>
          </a:p>
          <a:p>
            <a:pPr>
              <a:spcAft>
                <a:spcPts val="700"/>
              </a:spcAft>
              <a:defRPr sz="2500"/>
            </a:pPr>
            <a:r>
              <a:t>Dann schrittweise betrachten, was zwischen den Endpunkten passiert.</a:t>
            </a:r>
          </a:p>
          <a:p>
            <a:pPr>
              <a:spcAft>
                <a:spcPts val="700"/>
              </a:spcAft>
              <a:defRPr sz="2500"/>
            </a:pPr>
            <a:r>
              <a:t>Erst danach einzelne Komponenten oder Dienste genauer untersuchen.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Björns Denkmodell</a:t>
            </a:r>
          </a:p>
          <a:p>
            <a:pPr>
              <a:defRPr sz="1200"/>
            </a:pPr>
            <a:r>
              <a:t>„Erst herausfinden, wer mit wem reden will. Dann schauen, warum die Nachricht nicht ankommt.“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Ein Netzwerk verbindet Kommunikationsendpunkte.</a:t>
            </a:r>
          </a:p>
          <a:p>
            <a:pPr>
              <a:spcAft>
                <a:spcPts val="700"/>
              </a:spcAft>
              <a:defRPr sz="2000"/>
            </a:pPr>
            <a:r>
              <a:t>Endgeräte erzeugen, senden, empfangen oder verarbeiten Daten.</a:t>
            </a:r>
          </a:p>
          <a:p>
            <a:pPr>
              <a:spcAft>
                <a:spcPts val="700"/>
              </a:spcAft>
              <a:defRPr sz="2000"/>
            </a:pPr>
            <a:r>
              <a:t>Sender und Empfänger sind Rollen – keine festen Geräteeigenschaften.</a:t>
            </a:r>
          </a:p>
          <a:p>
            <a:pPr>
              <a:spcAft>
                <a:spcPts val="700"/>
              </a:spcAft>
              <a:defRPr sz="2000"/>
            </a:pPr>
            <a:r>
              <a:t>Netzwerkkomponenten liegen zwischen Endpunkten und vermitteln bzw. leiten Kommunikation weiter.</a:t>
            </a:r>
          </a:p>
          <a:p>
            <a:pPr>
              <a:spcAft>
                <a:spcPts val="700"/>
              </a:spcAft>
              <a:defRPr sz="2000"/>
            </a:pPr>
            <a:r>
              <a:t>Ein Server ist aus Sicht der Netzwerkkommunikation ein Endgerät.</a:t>
            </a:r>
          </a:p>
          <a:p>
            <a:pPr>
              <a:spcAft>
                <a:spcPts val="700"/>
              </a:spcAft>
              <a:defRPr sz="2000"/>
            </a:pPr>
            <a:r>
              <a:t>Bei der Fehlersuche zuerst klären: Wer möchte mit wem kommunizieren?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Abschließende Lernkontrolle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10 Minuten · ohne Unterlagen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/>
            </a:pPr>
            <a:r>
              <a:t>8 Aufgaben · 17 Punkte</a:t>
            </a:r>
          </a:p>
          <a:p>
            <a:pPr>
              <a:spcAft>
                <a:spcPts val="700"/>
              </a:spcAft>
              <a:defRPr sz="2300"/>
            </a:pPr>
            <a:r>
              <a:t>Definition und Begriffe</a:t>
            </a:r>
          </a:p>
          <a:p>
            <a:pPr>
              <a:spcAft>
                <a:spcPts val="700"/>
              </a:spcAft>
              <a:defRPr sz="2300"/>
            </a:pPr>
            <a:r>
              <a:t>Sender / Empfänger</a:t>
            </a:r>
          </a:p>
          <a:p>
            <a:pPr>
              <a:spcAft>
                <a:spcPts val="700"/>
              </a:spcAft>
              <a:defRPr sz="2300"/>
            </a:pPr>
            <a:r>
              <a:t>Endgerät vs. Netzwerkkomponente</a:t>
            </a:r>
          </a:p>
          <a:p>
            <a:pPr>
              <a:spcAft>
                <a:spcPts val="700"/>
              </a:spcAft>
              <a:defRPr sz="2300"/>
            </a:pPr>
            <a:r>
              <a:t>Kommunikationsweg</a:t>
            </a:r>
          </a:p>
          <a:p>
            <a:pPr>
              <a:spcAft>
                <a:spcPts val="700"/>
              </a:spcAft>
              <a:defRPr sz="2300"/>
            </a:pPr>
            <a:r>
              <a:t>Transfer und Fehlersuche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Björns Merksatz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„Erst herausfinden, wer mit wem reden will.</a:t>
            </a:r>
            <a:br/>
            <a:r>
              <a:t>Dann schauen, warum die Nachricht nicht ankommt.“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Grundmodell</a:t>
            </a:r>
          </a:p>
          <a:p>
            <a:pPr>
              <a:defRPr sz="1200"/>
            </a:pPr>
            <a:r>
              <a:t>Sender → Weg → Empfänger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SI-NW-02 · Endgeräte und Kommunikation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